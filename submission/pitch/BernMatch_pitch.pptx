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21"/>
  </p:notesMasterIdLst>
  <p:handoutMasterIdLst>
    <p:handoutMasterId r:id="rId22"/>
  </p:handoutMasterIdLst>
  <p:sldIdLst>
    <p:sldId id="256" r:id="rId8"/>
    <p:sldId id="257" r:id="rId9"/>
    <p:sldId id="259" r:id="rId11"/>
    <p:sldId id="260" r:id="rId12"/>
    <p:sldId id="262" r:id="rId14"/>
    <p:sldId id="264" r:id="rId16"/>
    <p:sldId id="265" r:id="rId17"/>
    <p:sldId id="267" r:id="rId19"/>
    <p:sldId id="269" r:id="rId7"/>
    <p:sldId id="271" r:id="rId5"/>
    <p:sldId id="272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A161F"/>
    <a:srgbClr val="999999"/>
    <a:srgbClr val="DC121C"/>
    <a:srgbClr val="E2141E"/>
    <a:srgbClr val="F69CA0"/>
    <a:srgbClr val="F379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1" autoAdjust="0"/>
  </p:normalViewPr>
  <p:slideViewPr>
    <p:cSldViewPr showGuides="1">
      <p:cViewPr varScale="1">
        <p:scale>
          <a:sx n="67" d="100"/>
          <a:sy n="67" d="100"/>
        </p:scale>
        <p:origin x="572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23" d="100"/>
          <a:sy n="123" d="100"/>
        </p:scale>
        <p:origin x="4896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4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9" Type="http://schemas.openxmlformats.org/officeDocument/2006/relationships/slide" Target="slides/slide8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18.10.2026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‹N°›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73424" y="1246193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964488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964488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644008"/>
            <a:ext cx="5560412" cy="388843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18.10.2026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2132856"/>
            <a:ext cx="8496300" cy="1558082"/>
          </a:xfrm>
        </p:spPr>
        <p:txBody>
          <a:bodyPr anchor="b"/>
          <a:lstStyle>
            <a:lvl1pPr algn="l">
              <a:lnSpc>
                <a:spcPct val="105000"/>
              </a:lnSpc>
              <a:defRPr sz="5100"/>
            </a:lvl1pPr>
          </a:lstStyle>
          <a:p>
            <a:r>
              <a:rPr lang="de-CH" dirty="0"/>
              <a:t>Titel (maximal zwei Zeilen)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9788" y="3757613"/>
            <a:ext cx="8496300" cy="1500187"/>
          </a:xfrm>
        </p:spPr>
        <p:txBody>
          <a:bodyPr/>
          <a:lstStyle>
            <a:lvl1pPr marL="0" indent="0" algn="l">
              <a:buNone/>
              <a:defRPr sz="5100">
                <a:solidFill>
                  <a:srgbClr val="9999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hinzufügen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8CD8-7FF1-4ED3-8276-926FEB01991B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DC6B3D-051C-4BB5-9F4B-3A2474AD93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1881188"/>
            <a:ext cx="5256212" cy="252412"/>
          </a:xfrm>
        </p:spPr>
        <p:txBody>
          <a:bodyPr lIns="18000"/>
          <a:lstStyle>
            <a:lvl1pPr>
              <a:defRPr sz="1300" b="1" spc="-20" baseline="0">
                <a:solidFill>
                  <a:srgbClr val="EA16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Spitzmarke hinzufügen</a:t>
            </a:r>
            <a:endParaRPr lang="de-CH" dirty="0"/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F6BA63E4-E10F-4E0A-91F5-2A2F842253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788" y="6033704"/>
            <a:ext cx="5256212" cy="430643"/>
          </a:xfrm>
        </p:spPr>
        <p:txBody>
          <a:bodyPr anchor="b"/>
          <a:lstStyle>
            <a:lvl1pPr>
              <a:defRPr sz="1300" b="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Referent/-in</a:t>
            </a:r>
            <a:br>
              <a:rPr lang="de-DE" dirty="0"/>
            </a:br>
            <a:r>
              <a:rPr lang="de-DE" dirty="0"/>
              <a:t>Organisationseinheit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38539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 (hell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60DBF63A-340F-460B-96E6-FC454B3EB6E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lIns="9432000" tIns="720000" rIns="360000" anchor="ctr"/>
          <a:lstStyle>
            <a:lvl1pPr algn="l"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de-CH" dirty="0"/>
              <a:t>Hintergrundbild durch «Drag &amp; Drop» in den Bildplatzhalter ziehen.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A410D26-1556-455F-8E0C-7721F22645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240704" y="0"/>
            <a:ext cx="168696" cy="6858000"/>
          </a:xfrm>
          <a:solidFill>
            <a:srgbClr val="FFFFFF">
              <a:alpha val="69804"/>
            </a:srgbClr>
          </a:solidFill>
        </p:spPr>
        <p:txBody>
          <a:bodyPr vert="vert270" lIns="18000" rIns="18000" anchor="t"/>
          <a:lstStyle>
            <a:lvl1pPr algn="r">
              <a:defRPr sz="82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Helle transparente Fläche – kann über das Hintergrundbild gezogen werden.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9788" y="3757613"/>
            <a:ext cx="8496300" cy="1500187"/>
          </a:xfrm>
        </p:spPr>
        <p:txBody>
          <a:bodyPr/>
          <a:lstStyle>
            <a:lvl1pPr marL="0" indent="0" algn="l">
              <a:buNone/>
              <a:defRPr sz="5100">
                <a:solidFill>
                  <a:srgbClr val="9999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hinzufügen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E384C9-A36A-4C51-A757-4015A728520B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DC6B3D-051C-4BB5-9F4B-3A2474AD93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1881188"/>
            <a:ext cx="5256212" cy="252412"/>
          </a:xfrm>
        </p:spPr>
        <p:txBody>
          <a:bodyPr lIns="18000"/>
          <a:lstStyle>
            <a:lvl1pPr>
              <a:defRPr sz="1300" b="1" spc="-20" baseline="0">
                <a:solidFill>
                  <a:srgbClr val="EA16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Spitzmarke hinzufügen</a:t>
            </a:r>
            <a:endParaRPr lang="de-CH" dirty="0"/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85EFC2AA-536C-4AE6-B953-354A6935FC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1600" y="180000"/>
            <a:ext cx="1483200" cy="6948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500" b="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  </a:t>
            </a:r>
            <a:endParaRPr lang="de-CH" dirty="0"/>
          </a:p>
        </p:txBody>
      </p:sp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5635797A-88C8-4B59-88E9-2DAF61D259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788" y="6033704"/>
            <a:ext cx="5256212" cy="430643"/>
          </a:xfrm>
        </p:spPr>
        <p:txBody>
          <a:bodyPr anchor="b"/>
          <a:lstStyle>
            <a:lvl1pPr>
              <a:defRPr sz="1300" b="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Referent/-in</a:t>
            </a:r>
            <a:br>
              <a:rPr lang="de-DE" dirty="0"/>
            </a:br>
            <a:r>
              <a:rPr lang="de-DE" dirty="0"/>
              <a:t>Organisationseinheit</a:t>
            </a:r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2132856"/>
            <a:ext cx="8496300" cy="1558082"/>
          </a:xfrm>
        </p:spPr>
        <p:txBody>
          <a:bodyPr anchor="b"/>
          <a:lstStyle>
            <a:lvl1pPr algn="l">
              <a:lnSpc>
                <a:spcPct val="105000"/>
              </a:lnSpc>
              <a:defRPr sz="5100"/>
            </a:lvl1pPr>
          </a:lstStyle>
          <a:p>
            <a:r>
              <a:rPr lang="de-CH" dirty="0"/>
              <a:t>Titel (maximal zwei Zeilen)</a:t>
            </a:r>
          </a:p>
        </p:txBody>
      </p:sp>
    </p:spTree>
    <p:extLst>
      <p:ext uri="{BB962C8B-B14F-4D97-AF65-F5344CB8AC3E}">
        <p14:creationId xmlns:p14="http://schemas.microsoft.com/office/powerpoint/2010/main" val="1009635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 (dunk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6A2DDBDC-F105-48B2-B9F8-38121A7EA8C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lIns="9432000" tIns="720000" rIns="360000" anchor="ctr"/>
          <a:lstStyle>
            <a:lvl1pPr algn="l"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de-CH" dirty="0"/>
              <a:t>Hintergrundbild durch «Drag &amp; Drop» in den Bildplatzhalter ziehen.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97E9A6A2-BECC-4EE3-BDC3-5BB494708F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240704" y="0"/>
            <a:ext cx="168696" cy="6858000"/>
          </a:xfrm>
          <a:solidFill>
            <a:schemeClr val="accent1">
              <a:alpha val="69804"/>
            </a:schemeClr>
          </a:solidFill>
        </p:spPr>
        <p:txBody>
          <a:bodyPr vert="vert270" lIns="18000" rIns="18000" anchor="t"/>
          <a:lstStyle>
            <a:lvl1pPr algn="r">
              <a:defRPr sz="82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Dunkle transparente Fläche – kann über das Hintergrundbild gezogen werden.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9788" y="3757613"/>
            <a:ext cx="8496300" cy="1500187"/>
          </a:xfrm>
        </p:spPr>
        <p:txBody>
          <a:bodyPr/>
          <a:lstStyle>
            <a:lvl1pPr marL="0" indent="0" algn="l">
              <a:buNone/>
              <a:defRPr sz="5100">
                <a:solidFill>
                  <a:srgbClr val="9999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hinzufügen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19DDA5-21C2-4B1D-B299-BF7B0E6DE0FE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DC6B3D-051C-4BB5-9F4B-3A2474AD93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1881188"/>
            <a:ext cx="5256212" cy="252412"/>
          </a:xfrm>
        </p:spPr>
        <p:txBody>
          <a:bodyPr lIns="18000"/>
          <a:lstStyle>
            <a:lvl1pPr>
              <a:defRPr sz="1300" b="1" spc="-2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Spitzmarke hinzufügen</a:t>
            </a:r>
            <a:endParaRPr lang="de-CH" dirty="0"/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85EFC2AA-536C-4AE6-B953-354A6935FC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1600" y="180000"/>
            <a:ext cx="1483200" cy="6948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500" b="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  </a:t>
            </a:r>
            <a:endParaRPr lang="de-CH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98F91D8E-4836-4A00-B7AC-63D16F153E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788" y="6033704"/>
            <a:ext cx="5256212" cy="430643"/>
          </a:xfrm>
        </p:spPr>
        <p:txBody>
          <a:bodyPr anchor="b"/>
          <a:lstStyle>
            <a:lvl1pPr>
              <a:defRPr sz="1300" b="0" spc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Referent/-in</a:t>
            </a:r>
            <a:br>
              <a:rPr lang="de-DE" dirty="0"/>
            </a:br>
            <a:r>
              <a:rPr lang="de-DE" dirty="0"/>
              <a:t>Organisationseinheit</a:t>
            </a:r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2132856"/>
            <a:ext cx="8496300" cy="1558082"/>
          </a:xfrm>
        </p:spPr>
        <p:txBody>
          <a:bodyPr anchor="b"/>
          <a:lstStyle>
            <a:lvl1pPr algn="l">
              <a:lnSpc>
                <a:spcPct val="105000"/>
              </a:lnSpc>
              <a:defRPr sz="5100"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Titel (maximal zwei Zeilen)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itel Schwarz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2132855"/>
            <a:ext cx="8496300" cy="735293"/>
          </a:xfrm>
        </p:spPr>
        <p:txBody>
          <a:bodyPr anchor="b"/>
          <a:lstStyle>
            <a:lvl1pPr algn="l">
              <a:lnSpc>
                <a:spcPct val="105000"/>
              </a:lnSpc>
              <a:defRPr sz="5100"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Kapiteltitel hinzufügen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9788" y="2924945"/>
            <a:ext cx="8496300" cy="1670986"/>
          </a:xfrm>
        </p:spPr>
        <p:txBody>
          <a:bodyPr/>
          <a:lstStyle>
            <a:lvl1pPr marL="0" indent="0" algn="l">
              <a:buNone/>
              <a:defRPr sz="5100">
                <a:solidFill>
                  <a:srgbClr val="9999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hinzufügen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57004AA-1953-4520-AF13-C3721611799D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04820DD-3205-4E29-AE71-A382F3B95B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3151" y="181525"/>
            <a:ext cx="1484308" cy="69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46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itel Blaugra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2132855"/>
            <a:ext cx="8496300" cy="735293"/>
          </a:xfrm>
        </p:spPr>
        <p:txBody>
          <a:bodyPr anchor="b"/>
          <a:lstStyle>
            <a:lvl1pPr algn="l">
              <a:lnSpc>
                <a:spcPct val="105000"/>
              </a:lnSpc>
              <a:defRPr sz="5100"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Kapiteltitel hinzufügen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9788" y="2924945"/>
            <a:ext cx="8496300" cy="1670986"/>
          </a:xfrm>
        </p:spPr>
        <p:txBody>
          <a:bodyPr/>
          <a:lstStyle>
            <a:lvl1pPr marL="0" indent="0" algn="l">
              <a:buNone/>
              <a:defRPr sz="51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  <a:r>
              <a:rPr lang="de-CH" dirty="0"/>
              <a:t> hinzufügen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1184E5-31D6-4FE5-BFC7-A07FAEBFE075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04820DD-3205-4E29-AE71-A382F3B95B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3151" y="181525"/>
            <a:ext cx="1484308" cy="69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490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itel Rot">
    <p:bg>
      <p:bgPr>
        <a:solidFill>
          <a:srgbClr val="EA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2132855"/>
            <a:ext cx="8496300" cy="735293"/>
          </a:xfrm>
        </p:spPr>
        <p:txBody>
          <a:bodyPr anchor="b"/>
          <a:lstStyle>
            <a:lvl1pPr algn="l">
              <a:lnSpc>
                <a:spcPct val="105000"/>
              </a:lnSpc>
              <a:defRPr sz="5100"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Kapiteltitel hinzufügen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9788" y="2924945"/>
            <a:ext cx="8496300" cy="1670986"/>
          </a:xfrm>
        </p:spPr>
        <p:txBody>
          <a:bodyPr/>
          <a:lstStyle>
            <a:lvl1pPr marL="0" indent="0" algn="l">
              <a:buNone/>
              <a:defRPr sz="5100">
                <a:solidFill>
                  <a:srgbClr val="F69CA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  <a:r>
              <a:rPr lang="de-CH" dirty="0"/>
              <a:t> hinzufügen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70FF11-BE2C-4D33-A71B-8DA63E8A163E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04820DD-3205-4E29-AE71-A382F3B95B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3151" y="181525"/>
            <a:ext cx="1484308" cy="69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695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39788" y="2132855"/>
            <a:ext cx="8496300" cy="735293"/>
          </a:xfrm>
        </p:spPr>
        <p:txBody>
          <a:bodyPr anchor="b"/>
          <a:lstStyle>
            <a:lvl1pPr algn="l">
              <a:lnSpc>
                <a:spcPct val="105000"/>
              </a:lnSpc>
              <a:defRPr sz="5100"/>
            </a:lvl1pPr>
          </a:lstStyle>
          <a:p>
            <a:r>
              <a:rPr lang="de-CH" dirty="0"/>
              <a:t>Kapiteltitel hinzufügen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9788" y="2924945"/>
            <a:ext cx="8496300" cy="1670986"/>
          </a:xfrm>
        </p:spPr>
        <p:txBody>
          <a:bodyPr/>
          <a:lstStyle>
            <a:lvl1pPr marL="0" indent="0" algn="l">
              <a:buNone/>
              <a:defRPr sz="5100">
                <a:solidFill>
                  <a:srgbClr val="9999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  <a:r>
              <a:rPr lang="de-CH" dirty="0"/>
              <a:t> hinzufügen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44CA-0A33-40A7-B8DB-1E3475BC8352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30090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8EF3F-82B3-4CB2-B551-A5FCEA334651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Unter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071564"/>
            <a:ext cx="10983913" cy="54135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838200" y="2420888"/>
            <a:ext cx="10983913" cy="4104456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B08CE-F601-4561-962B-752A580B012A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FE9C7B8-7467-451B-8352-4E9C0C569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630018"/>
            <a:ext cx="10983913" cy="556592"/>
          </a:xfrm>
        </p:spPr>
        <p:txBody>
          <a:bodyPr/>
          <a:lstStyle>
            <a:lvl1pPr>
              <a:defRPr sz="3400">
                <a:solidFill>
                  <a:srgbClr val="999999"/>
                </a:solidFill>
              </a:defRPr>
            </a:lvl1pPr>
          </a:lstStyle>
          <a:p>
            <a:pPr lvl="0"/>
            <a:r>
              <a:rPr lang="de-DE" dirty="0"/>
              <a:t>Untertitel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187446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838200" y="1852612"/>
            <a:ext cx="5329808" cy="4672800"/>
          </a:xfrm>
        </p:spPr>
        <p:txBody>
          <a:bodyPr/>
          <a:lstStyle/>
          <a:p>
            <a:pPr lvl="0"/>
            <a:r>
              <a:rPr lang="de-CH" noProof="0" dirty="0"/>
              <a:t>Textmasterformat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493098" y="1852612"/>
            <a:ext cx="5329015" cy="4672799"/>
          </a:xfrm>
        </p:spPr>
        <p:txBody>
          <a:bodyPr/>
          <a:lstStyle/>
          <a:p>
            <a:pPr lvl="0"/>
            <a:r>
              <a:rPr lang="de-CH" noProof="0" dirty="0"/>
              <a:t>Textmasterformat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1B167-7135-43F3-AEAE-A730821D191A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CH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6CBD-DD5D-4F61-A35A-2BDD2301218D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DCA4218-6304-434F-B7B6-74DF28EC09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2304" y="1916832"/>
            <a:ext cx="5329808" cy="450703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fr-FR"/>
              <a:t>Cliquez sur l'icône pour ajouter une image</a:t>
            </a:r>
            <a:endParaRPr lang="de-CH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C1C5F14-3075-4FD1-945B-02DE33860C0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52612"/>
            <a:ext cx="5329808" cy="4672800"/>
          </a:xfrm>
        </p:spPr>
        <p:txBody>
          <a:bodyPr/>
          <a:lstStyle/>
          <a:p>
            <a:pPr lvl="0"/>
            <a:r>
              <a:rPr lang="de-CH" noProof="0" dirty="0"/>
              <a:t>Textmasterformat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39350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CH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B2EE-0AB2-4AEE-914F-EB9E33FEECB6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B7494CC6-D926-49A7-9F3F-4C583660BC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9788" y="1916831"/>
            <a:ext cx="5329808" cy="450703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fr-FR"/>
              <a:t>Cliquez sur l'icône pour ajouter une image</a:t>
            </a:r>
            <a:endParaRPr lang="de-CH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FFF4BFA1-D66B-4323-A031-D7779026D27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93098" y="1852612"/>
            <a:ext cx="5329015" cy="4672799"/>
          </a:xfrm>
        </p:spPr>
        <p:txBody>
          <a:bodyPr/>
          <a:lstStyle/>
          <a:p>
            <a:pPr lvl="0"/>
            <a:r>
              <a:rPr lang="de-CH" noProof="0" dirty="0"/>
              <a:t>Textmasterformat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02039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AD0E-3E40-4A4C-8A31-E1A9AB0C5623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9F27DF-F3EE-4D6E-866F-A71D2FB41AF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9787" y="1916831"/>
            <a:ext cx="10982325" cy="450703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fr-FR"/>
              <a:t>Cliquez sur l'icône pour ajouter une image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51753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CH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4B0DB-8B37-4DE6-B20E-758F84ADAD1D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091E-89C7-4DA0-88E9-E17602D8A5F2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1071564"/>
            <a:ext cx="10983913" cy="61912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52613"/>
            <a:ext cx="10983913" cy="467273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 dirty="0"/>
              <a:t>Textmasterformat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336360" y="434133"/>
            <a:ext cx="2088232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20" baseline="0">
                <a:solidFill>
                  <a:schemeClr val="tx1"/>
                </a:solidFill>
              </a:defRPr>
            </a:lvl1pPr>
          </a:lstStyle>
          <a:p>
            <a:fld id="{25BFEB73-7DB0-4E1C-AD41-222EA41EE038}" type="datetime4">
              <a:rPr lang="de-CH" smtClean="0"/>
              <a:t>18. Oktober 2026</a:t>
            </a:fld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336360" y="297071"/>
            <a:ext cx="2088232" cy="12440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20" baseline="0">
                <a:solidFill>
                  <a:schemeClr val="tx1"/>
                </a:solidFill>
              </a:defRPr>
            </a:lvl1pPr>
          </a:lstStyle>
          <a:p>
            <a:r>
              <a:rPr lang="de-CH"/>
              <a:t>Klassifizierung: intern / vertraulich / geheim</a:t>
            </a:r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96600" y="297072"/>
            <a:ext cx="321625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20" baseline="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‹N°›</a:t>
            </a:fld>
            <a:endParaRPr lang="de-CH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FEC6ACA-7650-4DEA-B34E-89DC63F8CE64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51" y="181525"/>
            <a:ext cx="1484308" cy="69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58" r:id="rId3"/>
    <p:sldLayoutId id="2147483669" r:id="rId4"/>
    <p:sldLayoutId id="2147483671" r:id="rId5"/>
    <p:sldLayoutId id="2147483672" r:id="rId6"/>
    <p:sldLayoutId id="2147483668" r:id="rId7"/>
    <p:sldLayoutId id="2147483659" r:id="rId8"/>
    <p:sldLayoutId id="2147483673" r:id="rId9"/>
    <p:sldLayoutId id="2147483661" r:id="rId10"/>
    <p:sldLayoutId id="2147483674" r:id="rId11"/>
    <p:sldLayoutId id="2147483675" r:id="rId12"/>
    <p:sldLayoutId id="2147483665" r:id="rId13"/>
    <p:sldLayoutId id="2147483663" r:id="rId14"/>
    <p:sldLayoutId id="2147483664" r:id="rId15"/>
  </p:sldLayoutIdLst>
  <p:hf hdr="0"/>
  <p:txStyles>
    <p:titleStyle>
      <a:lvl1pPr algn="l" defTabSz="447675" rtl="0" eaLnBrk="1" latinLnBrk="0" hangingPunct="1">
        <a:lnSpc>
          <a:spcPct val="10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49263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57188" indent="-357188" algn="l" defTabSz="449263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Char char="‒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715963" indent="-358775" algn="l" defTabSz="449263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Char char="‒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indent="-363538" algn="l" defTabSz="449263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Char char="‒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1436688" indent="-357188" algn="l" defTabSz="449263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Char char="‒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881" userDrawn="1">
          <p15:clr>
            <a:srgbClr val="F26B43"/>
          </p15:clr>
        </p15:guide>
        <p15:guide id="4" pos="7447" userDrawn="1">
          <p15:clr>
            <a:srgbClr val="F26B43"/>
          </p15:clr>
        </p15:guide>
        <p15:guide id="5" orient="horz" pos="675" userDrawn="1">
          <p15:clr>
            <a:srgbClr val="F26B43"/>
          </p15:clr>
        </p15:guide>
        <p15:guide id="6" orient="horz" pos="11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kaktamsdengami-bern-match.hf.space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hyperlink" Target="https://kaktamsdengami-bern-match.hf.space" TargetMode="External"/><Relationship Id="rId5" Type="http://schemas.openxmlformats.org/officeDocument/2006/relationships/hyperlink" Target="https://github.com/AnAsteria/Apertus_Hack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bern.jpg"/>
          <p:cNvPicPr>
            <a:picLocks noGrp="1" noChangeAspect="1"/>
          </p:cNvPicPr>
          <p:nvPr>
            <p:ph type="pic" idx="17" sz="quarter"/>
          </p:nvPr>
        </p:nvPicPr>
        <p:blipFill>
          <a:blip r:embed="rId3"/>
          <a:srcRect t="27" b="27"/>
          <a:stretch>
            <a:fillRect/>
          </a:stretch>
        </p:blipFill>
        <p:spPr/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1E1E1E"/>
                </a:solidFill>
              </a:rPr>
              <a:t>Bern Match finds the right people, with proof, in one second.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RESEARCH &amp; EXPERTISE NAVIGATOR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Dimitry · Maxim · Ruihan   |   Powered by Apertus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Who in Bern can solve this?</a:t>
            </a:r>
          </a:p>
        </p:txBody>
      </p:sp>
      <p:pic>
        <p:nvPicPr>
          <p:cNvPr id="9" name="Picture 8" descr="b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0000"/>
            <a:ext cx="2554498" cy="820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expert exists. Finding them doesn’t work.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900000"/>
            <a:ext cx="380000" cy="6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2020000"/>
            <a:ext cx="30000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400" b="1">
                <a:solidFill>
                  <a:srgbClr val="E30613"/>
                </a:solidFill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855800"/>
            <a:ext cx="3000000" cy="7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</a:rPr>
              <a:t>public websites: faculties, institutes, research groups, people,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3900000"/>
            <a:ext cx="380000" cy="6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4020000"/>
            <a:ext cx="30000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400" b="1">
                <a:solidFill>
                  <a:srgbClr val="E30613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855800"/>
            <a:ext cx="3000000" cy="7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</a:rPr>
              <a:t>languages on the pages: German, English, French, Italian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8200" y="1950000"/>
            <a:ext cx="6783913" cy="125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/>
          <a:lstStyle/>
          <a:p>
            <a:pPr algn="l"/>
            <a:r>
              <a:rPr sz="1100" b="1">
                <a:solidFill>
                  <a:srgbClr val="7A7A7A"/>
                </a:solidFill>
              </a:rPr>
              <a:t>THE COMPANY ASKS</a:t>
            </a:r>
          </a:p>
          <a:p>
            <a:pPr algn="l"/>
            <a:r>
              <a:rPr sz="2600" b="1">
                <a:solidFill>
                  <a:srgbClr val="1E1E1E"/>
                </a:solidFill>
              </a:rPr>
              <a:t>“Who can help with glucose sensors?”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38200" y="3450000"/>
            <a:ext cx="6783913" cy="12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/>
          <a:lstStyle/>
          <a:p>
            <a:pPr algn="l"/>
            <a:r>
              <a:rPr sz="1100" b="1">
                <a:solidFill>
                  <a:srgbClr val="FFFFFF"/>
                </a:solidFill>
              </a:rPr>
              <a:t>THE LAB PAGE SAYS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CGM · biosensing · Glukosemessung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8200" y="4950000"/>
            <a:ext cx="6783913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>
                <a:solidFill>
                  <a:srgbClr val="1E1E1E"/>
                </a:solidFill>
              </a:rPr>
              <a:t>Same expertise. Different words. 41 places to look.</a:t>
            </a:r>
          </a:p>
          <a:p>
            <a:pPr algn="l"/>
            <a:r>
              <a:rPr sz="1400" b="0">
                <a:solidFill>
                  <a:srgbClr val="7A7A7A"/>
                </a:solidFill>
              </a:rPr>
              <a:t>Keyword search misses the expert; a generic chatbot may invent one.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Bern Match wins.</a:t>
            </a:r>
          </a:p>
        </p:txBody>
      </p:sp>
      <p:sp>
        <p:nvSpPr>
          <p:cNvPr id="3" name="Rectangle 2"/>
          <p:cNvSpPr/>
          <p:nvPr/>
        </p:nvSpPr>
        <p:spPr>
          <a:xfrm>
            <a:off x="9878200" y="1700000"/>
            <a:ext cx="1720000" cy="43500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38200" y="1780000"/>
            <a:ext cx="1600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7A7A7A"/>
                </a:solidFill>
              </a:rPr>
              <a:t>Site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8200" y="1780000"/>
            <a:ext cx="1600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7A7A7A"/>
                </a:solidFill>
              </a:rPr>
              <a:t>Google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8200" y="1780000"/>
            <a:ext cx="1600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7A7A7A"/>
                </a:solidFill>
              </a:rPr>
              <a:t>Generic AI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38200" y="1780000"/>
            <a:ext cx="1600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E30613"/>
                </a:solidFill>
              </a:rPr>
              <a:t>Bern Match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2860000"/>
            <a:ext cx="10983913" cy="80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2420000"/>
            <a:ext cx="4200000" cy="4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</a:rPr>
              <a:t>Understands meaning and synonyms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8200" y="236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7A7A7A"/>
                </a:solidFill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8200" y="236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D98B00"/>
                </a:solidFill>
              </a:rPr>
              <a:t>~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8200" y="236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1E8E4A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38200" y="236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E30613"/>
                </a:solidFill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" y="3480000"/>
            <a:ext cx="10983913" cy="80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" y="3040000"/>
            <a:ext cx="4200000" cy="4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</a:rPr>
              <a:t>Searches 41 sites at once, in 4 languages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200" y="298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7A7A7A"/>
                </a:solidFill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8200" y="298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1E8E4A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8200" y="298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D98B00"/>
                </a:solidFill>
              </a:rPr>
              <a:t>~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38200" y="298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E30613"/>
                </a:solidFill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8200" y="4100000"/>
            <a:ext cx="10983913" cy="80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3660000"/>
            <a:ext cx="4200000" cy="4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</a:rPr>
              <a:t>Returns people and groups, not pages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200" y="360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7A7A7A"/>
                </a:solidFill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8200" y="360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7A7A7A"/>
                </a:solidFill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8200" y="360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1E8E4A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8200" y="360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E30613"/>
                </a:solidFill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8200" y="4720000"/>
            <a:ext cx="10983913" cy="80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200" y="4280000"/>
            <a:ext cx="4200000" cy="4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</a:rPr>
              <a:t>Every claim quoted from its 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200" y="422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DDDDDD"/>
                </a:solidFill>
              </a:rPr>
              <a:t>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8200" y="422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DDDDDD"/>
                </a:solidFill>
              </a:rPr>
              <a:t>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8200" y="422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7A7A7A"/>
                </a:solidFill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8200" y="422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E30613"/>
                </a:solidFill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8200" y="5340000"/>
            <a:ext cx="10983913" cy="80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200" y="4900000"/>
            <a:ext cx="4200000" cy="4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</a:rPr>
              <a:t>Answers in &lt; 1 s, 0 tokens per 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8200" y="484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1E8E4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8200" y="484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1E8E4A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8200" y="484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7A7A7A"/>
                </a:solidFill>
              </a:rP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8200" y="484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E30613"/>
                </a:solidFill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8200" y="5960000"/>
            <a:ext cx="10983913" cy="80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200" y="5520000"/>
            <a:ext cx="4200000" cy="45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</a:rPr>
              <a:t>Swiss model, runs on your own servers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38200" y="546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DDDDDD"/>
                </a:solidFill>
              </a:rPr>
              <a:t>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38200" y="546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7A7A7A"/>
                </a:solidFill>
              </a:rP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8200" y="546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7A7A7A"/>
                </a:solidFill>
              </a:rP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38200" y="5460000"/>
            <a:ext cx="160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E30613"/>
                </a:solidFill>
              </a:rPr>
              <a:t>✓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analyst sees.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2113" y="1130000"/>
            <a:ext cx="42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1">
                <a:solidFill>
                  <a:srgbClr val="E30613"/>
                </a:solidFill>
              </a:rPr>
              <a:t>VALUE FOR THE ANALYST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200" y="1800000"/>
            <a:ext cx="7150000" cy="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/>
          <a:lstStyle/>
          <a:p>
            <a:pPr algn="l"/>
            <a:r>
              <a:rPr sz="1500" b="0">
                <a:solidFill>
                  <a:srgbClr val="1E1E1E"/>
                </a:solidFill>
              </a:rPr>
              <a:t>needle-free glucose monitoring for people with diabetes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2600000"/>
            <a:ext cx="7150000" cy="2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0000" rIns="260000"/>
          <a:lstStyle/>
          <a:p>
            <a:pPr algn="l"/>
            <a:r>
              <a:rPr sz="1100" b="1">
                <a:solidFill>
                  <a:srgbClr val="E30613"/>
                </a:solidFill>
              </a:rPr>
              <a:t>PROJECT  ·  DIABETES CENTER BERNE</a:t>
            </a:r>
          </a:p>
          <a:p>
            <a:pPr algn="l"/>
            <a:r>
              <a:rPr sz="2200" b="1">
                <a:solidFill>
                  <a:srgbClr val="1E1E1E"/>
                </a:solidFill>
              </a:rPr>
              <a:t>SPN-005 – Pilot study on painless glucose monitoring</a:t>
            </a:r>
          </a:p>
          <a:p>
            <a:pPr algn="l"/>
            <a:r>
              <a:rPr sz="1300" b="0">
                <a:solidFill>
                  <a:srgbClr val="7A7A7A"/>
                </a:solidFill>
              </a:rPr>
              <a:t>“SPN-005 – Pilot study on painless glucose monitoring”</a:t>
            </a:r>
          </a:p>
          <a:p>
            <a:pPr algn="l"/>
            <a:r>
              <a:rPr sz="1100" b="0">
                <a:solidFill>
                  <a:srgbClr val="7A7A7A"/>
                </a:solidFill>
              </a:rPr>
              <a:t>exact sentence from dcberne.com  ·  why it matches  ·  source 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8200" y="4500000"/>
            <a:ext cx="2300000" cy="500000"/>
          </a:xfrm>
          <a:prstGeom prst="roundRect">
            <a:avLst>
              <a:gd name="adj" fmla="val 8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+  Add to shortlist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88200" y="1800000"/>
            <a:ext cx="3533913" cy="345000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0000" rIns="260000"/>
          <a:lstStyle/>
          <a:p>
            <a:pPr algn="l">
              <a:spcAft>
                <a:spcPts val="900"/>
              </a:spcAft>
            </a:pPr>
            <a:r>
              <a:rPr sz="1200" b="1">
                <a:solidFill>
                  <a:srgbClr val="BBBBBB"/>
                </a:solidFill>
              </a:rPr>
              <a:t>SHORTLIST (3)</a:t>
            </a:r>
          </a:p>
          <a:p>
            <a:pPr algn="l"/>
            <a:r>
              <a:rPr sz="1500" b="1">
                <a:solidFill>
                  <a:srgbClr val="FFFFFF"/>
                </a:solidFill>
              </a:rPr>
              <a:t>SPN-005 pilot study</a:t>
            </a:r>
          </a:p>
          <a:p>
            <a:pPr algn="l">
              <a:spcAft>
                <a:spcPts val="900"/>
              </a:spcAft>
            </a:pPr>
            <a:r>
              <a:rPr sz="1100" b="0">
                <a:solidFill>
                  <a:srgbClr val="BBBBBB"/>
                </a:solidFill>
              </a:rPr>
              <a:t>Diabetes Center Berne</a:t>
            </a:r>
          </a:p>
          <a:p>
            <a:pPr algn="l"/>
            <a:r>
              <a:rPr sz="1500" b="1">
                <a:solidFill>
                  <a:srgbClr val="FFFFFF"/>
                </a:solidFill>
              </a:rPr>
              <a:t>Adaptive Diabetes Management</a:t>
            </a:r>
          </a:p>
          <a:p>
            <a:pPr algn="l">
              <a:spcAft>
                <a:spcPts val="900"/>
              </a:spcAft>
            </a:pPr>
            <a:r>
              <a:rPr sz="1100" b="0">
                <a:solidFill>
                  <a:srgbClr val="BBBBBB"/>
                </a:solidFill>
              </a:rPr>
              <a:t>ARTORG</a:t>
            </a:r>
          </a:p>
          <a:p>
            <a:pPr algn="l"/>
            <a:r>
              <a:rPr sz="1500" b="1">
                <a:solidFill>
                  <a:srgbClr val="FFFFFF"/>
                </a:solidFill>
              </a:rPr>
              <a:t>Institute for Diabetes Technology</a:t>
            </a:r>
          </a:p>
          <a:p>
            <a:pPr algn="l">
              <a:spcAft>
                <a:spcPts val="900"/>
              </a:spcAft>
            </a:pPr>
            <a:r>
              <a:rPr sz="1100" b="0">
                <a:solidFill>
                  <a:srgbClr val="BBBBBB"/>
                </a:solidFill>
              </a:rPr>
              <a:t>Diabetes Center Berne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E30613"/>
                </a:solidFill>
              </a:rPr>
              <a:t>Export PDF  ·  Brief  ·  E-mail draft</a:t>
            </a:r>
          </a:p>
          <a:p>
            <a:pPr algn="l"/>
            <a:r>
              <a:rPr sz="1000" b="0">
                <a:solidFill>
                  <a:srgbClr val="BBBBBB"/>
                </a:solidFill>
              </a:rPr>
              <a:t>AI text labelled · nothing is 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500000"/>
            <a:ext cx="7150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7A7A7A"/>
                </a:solidFill>
              </a:rPr>
              <a:t>&lt; 1 s to first results  ·  EN / DE / FR / IT  ·  every card has its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8200" y="5500000"/>
            <a:ext cx="3533913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400" b="1">
                <a:solidFill>
                  <a:srgbClr val="E30613"/>
                </a:solidFill>
                <a:hlinkClick r:id="rId3"/>
              </a:rPr>
              <a:t>Open the live demo ↗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Apertus speaks the lab’s language.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2113" y="1130000"/>
            <a:ext cx="42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1">
                <a:solidFill>
                  <a:srgbClr val="E30613"/>
                </a:solidFill>
              </a:rPr>
              <a:t>PURPOSEFUL USE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200" y="1850000"/>
            <a:ext cx="2400000" cy="56000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500" b="1">
                <a:solidFill>
                  <a:srgbClr val="1E1E1E"/>
                </a:solidFill>
              </a:rPr>
              <a:t>glucose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8200" y="1880000"/>
            <a:ext cx="4500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E30613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88200" y="1850000"/>
            <a:ext cx="815000" cy="560000"/>
          </a:xfrm>
          <a:prstGeom prst="roundRect">
            <a:avLst>
              <a:gd name="adj" fmla="val 8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CGM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63200" y="1850000"/>
            <a:ext cx="3545000" cy="560000"/>
          </a:xfrm>
          <a:prstGeom prst="roundRect">
            <a:avLst>
              <a:gd name="adj" fmla="val 8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continuous glucose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68200" y="1850000"/>
            <a:ext cx="1970000" cy="560000"/>
          </a:xfrm>
          <a:prstGeom prst="roundRect">
            <a:avLst>
              <a:gd name="adj" fmla="val 8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Glukosemessung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470000"/>
            <a:ext cx="10000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7A7A7A"/>
                </a:solidFill>
              </a:rPr>
              <a:t>example of the expansion Apertus 70B adds · each added term names the word it came from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000000"/>
            <a:ext cx="10983913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7A7A7A"/>
                </a:solidFill>
              </a:rPr>
              <a:t>EXPECTED EXPERTS IN THE TOP 10 · FROZEN TEST SET (n = 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5500000"/>
            <a:ext cx="10983913" cy="120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" y="4200000"/>
            <a:ext cx="3261304" cy="13000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3640000"/>
            <a:ext cx="3261304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000" b="1">
                <a:solidFill>
                  <a:srgbClr val="7A7A7A"/>
                </a:solidFill>
              </a:rPr>
              <a:t>0.65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590000"/>
            <a:ext cx="3261304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7A7A7A"/>
                </a:solidFill>
              </a:rPr>
              <a:t>Search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99504" y="4200000"/>
            <a:ext cx="3261304" cy="13000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9504" y="3640000"/>
            <a:ext cx="3261304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000" b="1">
                <a:solidFill>
                  <a:srgbClr val="7A7A7A"/>
                </a:solidFill>
              </a:rPr>
              <a:t>0.65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9504" y="5590000"/>
            <a:ext cx="3261304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7A7A7A"/>
                </a:solidFill>
              </a:rPr>
              <a:t>+ Apertus 8B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60808" y="3860000"/>
            <a:ext cx="3261304" cy="164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0808" y="3300000"/>
            <a:ext cx="3261304" cy="5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000" b="1">
                <a:solidFill>
                  <a:srgbClr val="E30613"/>
                </a:solidFill>
              </a:rPr>
              <a:t>0.82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0808" y="5590000"/>
            <a:ext cx="3261304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7A7A7A"/>
                </a:solidFill>
              </a:rPr>
              <a:t>+ Apertus 70B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to be trusted.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2113" y="1130000"/>
            <a:ext cx="42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1">
                <a:solidFill>
                  <a:srgbClr val="E30613"/>
                </a:solidFill>
              </a:rPr>
              <a:t>TECHNICAL RIGOUR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670000"/>
            <a:ext cx="10983913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7A7A7A"/>
                </a:solidFill>
              </a:rPr>
              <a:t>PREPARED IN ADVANCE · NEVER PER QUERY</a:t>
            </a:r>
          </a:p>
        </p:txBody>
      </p:sp>
      <p:sp>
        <p:nvSpPr>
          <p:cNvPr id="5" name="Pentagon 4"/>
          <p:cNvSpPr/>
          <p:nvPr/>
        </p:nvSpPr>
        <p:spPr>
          <a:xfrm>
            <a:off x="838200" y="2050000"/>
            <a:ext cx="2835978" cy="1100000"/>
          </a:xfrm>
          <a:prstGeom prst="homePlate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30000" rIns="330000"/>
          <a:lstStyle/>
          <a:p>
            <a:pPr algn="ctr"/>
            <a:r>
              <a:rPr sz="1600" b="1">
                <a:solidFill>
                  <a:srgbClr val="1E1E1E"/>
                </a:solidFill>
              </a:rPr>
              <a:t>41 sources</a:t>
            </a:r>
          </a:p>
          <a:p>
            <a:pPr algn="ctr"/>
            <a:r>
              <a:rPr sz="1200" b="0">
                <a:solidFill>
                  <a:srgbClr val="7A7A7A"/>
                </a:solidFill>
              </a:rPr>
              <a:t>UniBE · ARTORG · DCB</a:t>
            </a:r>
          </a:p>
        </p:txBody>
      </p:sp>
      <p:sp>
        <p:nvSpPr>
          <p:cNvPr id="6" name="Chevron 5"/>
          <p:cNvSpPr/>
          <p:nvPr/>
        </p:nvSpPr>
        <p:spPr>
          <a:xfrm>
            <a:off x="3554178" y="2050000"/>
            <a:ext cx="2835978" cy="1100000"/>
          </a:xfrm>
          <a:prstGeom prst="chevron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30000" rIns="330000"/>
          <a:lstStyle/>
          <a:p>
            <a:pPr algn="ctr"/>
            <a:r>
              <a:rPr sz="1600" b="1">
                <a:solidFill>
                  <a:srgbClr val="1E1E1E"/>
                </a:solidFill>
              </a:rPr>
              <a:t>Polite crawl</a:t>
            </a:r>
          </a:p>
          <a:p>
            <a:pPr algn="ctr"/>
            <a:r>
              <a:rPr sz="1200" b="0">
                <a:solidFill>
                  <a:srgbClr val="7A7A7A"/>
                </a:solidFill>
              </a:rPr>
              <a:t>2,811 pages · 148k sentences</a:t>
            </a:r>
          </a:p>
        </p:txBody>
      </p:sp>
      <p:sp>
        <p:nvSpPr>
          <p:cNvPr id="7" name="Chevron 6"/>
          <p:cNvSpPr/>
          <p:nvPr/>
        </p:nvSpPr>
        <p:spPr>
          <a:xfrm>
            <a:off x="6270156" y="2050000"/>
            <a:ext cx="2835978" cy="1100000"/>
          </a:xfrm>
          <a:prstGeom prst="chevron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30000" rIns="330000"/>
          <a:lstStyle/>
          <a:p>
            <a:pPr algn="ctr"/>
            <a:r>
              <a:rPr sz="1600" b="1">
                <a:solidFill>
                  <a:srgbClr val="1E1E1E"/>
                </a:solidFill>
              </a:rPr>
              <a:t>Apertus 70B</a:t>
            </a:r>
          </a:p>
          <a:p>
            <a:pPr algn="ctr"/>
            <a:r>
              <a:rPr sz="1200" b="0">
                <a:solidFill>
                  <a:srgbClr val="7A7A7A"/>
                </a:solidFill>
              </a:rPr>
              <a:t>facts must cite a sentence</a:t>
            </a:r>
          </a:p>
        </p:txBody>
      </p:sp>
      <p:sp>
        <p:nvSpPr>
          <p:cNvPr id="8" name="Chevron 7"/>
          <p:cNvSpPr/>
          <p:nvPr/>
        </p:nvSpPr>
        <p:spPr>
          <a:xfrm>
            <a:off x="8986134" y="2050000"/>
            <a:ext cx="2835978" cy="1100000"/>
          </a:xfrm>
          <a:prstGeom prst="chevron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30000" rIns="330000"/>
          <a:lstStyle/>
          <a:p>
            <a:pPr algn="ctr"/>
            <a:r>
              <a:rPr sz="1600" b="1">
                <a:solidFill>
                  <a:srgbClr val="1E1E1E"/>
                </a:solidFill>
              </a:rPr>
              <a:t>One index</a:t>
            </a:r>
          </a:p>
          <a:p>
            <a:pPr algn="ctr"/>
            <a:r>
              <a:rPr sz="1200" b="0">
                <a:solidFill>
                  <a:srgbClr val="7A7A7A"/>
                </a:solidFill>
              </a:rPr>
              <a:t>BM25 + embeddings · 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370000"/>
            <a:ext cx="10983913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</a:rPr>
              <a:t>WHEN THE ANALYST SEARCHES</a:t>
            </a:r>
          </a:p>
        </p:txBody>
      </p:sp>
      <p:sp>
        <p:nvSpPr>
          <p:cNvPr id="10" name="Pentagon 9"/>
          <p:cNvSpPr/>
          <p:nvPr/>
        </p:nvSpPr>
        <p:spPr>
          <a:xfrm>
            <a:off x="838200" y="3750000"/>
            <a:ext cx="2835978" cy="1100000"/>
          </a:xfrm>
          <a:prstGeom prst="homePlate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30000" rIns="330000"/>
          <a:lstStyle/>
          <a:p>
            <a:pPr algn="ctr"/>
            <a:r>
              <a:rPr sz="1600" b="1">
                <a:solidFill>
                  <a:srgbClr val="1E1E1E"/>
                </a:solidFill>
              </a:rPr>
              <a:t>Request</a:t>
            </a:r>
          </a:p>
          <a:p>
            <a:pPr algn="ctr"/>
            <a:r>
              <a:rPr sz="1200" b="0">
                <a:solidFill>
                  <a:srgbClr val="7A7A7A"/>
                </a:solidFill>
              </a:rPr>
              <a:t>plain language · 4 languages</a:t>
            </a:r>
          </a:p>
        </p:txBody>
      </p:sp>
      <p:sp>
        <p:nvSpPr>
          <p:cNvPr id="11" name="Chevron 10"/>
          <p:cNvSpPr/>
          <p:nvPr/>
        </p:nvSpPr>
        <p:spPr>
          <a:xfrm>
            <a:off x="3554178" y="3750000"/>
            <a:ext cx="2835978" cy="1100000"/>
          </a:xfrm>
          <a:prstGeom prst="chevron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30000" rIns="330000"/>
          <a:lstStyle/>
          <a:p>
            <a:pPr algn="ctr"/>
            <a:r>
              <a:rPr sz="1600" b="1">
                <a:solidFill>
                  <a:srgbClr val="1E1E1E"/>
                </a:solidFill>
              </a:rPr>
              <a:t>Instant search</a:t>
            </a:r>
          </a:p>
          <a:p>
            <a:pPr algn="ctr"/>
            <a:r>
              <a:rPr sz="1200" b="0">
                <a:solidFill>
                  <a:srgbClr val="7A7A7A"/>
                </a:solidFill>
              </a:rPr>
              <a:t>no AI · &lt; 1 s</a:t>
            </a:r>
          </a:p>
        </p:txBody>
      </p:sp>
      <p:sp>
        <p:nvSpPr>
          <p:cNvPr id="12" name="Chevron 11"/>
          <p:cNvSpPr/>
          <p:nvPr/>
        </p:nvSpPr>
        <p:spPr>
          <a:xfrm>
            <a:off x="6270156" y="3750000"/>
            <a:ext cx="2835978" cy="1100000"/>
          </a:xfrm>
          <a:prstGeom prst="chevron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30000" rIns="330000"/>
          <a:lstStyle/>
          <a:p>
            <a:pPr algn="ctr"/>
            <a:r>
              <a:rPr sz="1600" b="1">
                <a:solidFill>
                  <a:srgbClr val="1E1E1E"/>
                </a:solidFill>
              </a:rPr>
              <a:t>Cards</a:t>
            </a:r>
          </a:p>
          <a:p>
            <a:pPr algn="ctr"/>
            <a:r>
              <a:rPr sz="1200" b="0">
                <a:solidFill>
                  <a:srgbClr val="7A7A7A"/>
                </a:solidFill>
              </a:rPr>
              <a:t>quote · link · why · confidence</a:t>
            </a:r>
          </a:p>
        </p:txBody>
      </p:sp>
      <p:sp>
        <p:nvSpPr>
          <p:cNvPr id="13" name="Chevron 12"/>
          <p:cNvSpPr/>
          <p:nvPr/>
        </p:nvSpPr>
        <p:spPr>
          <a:xfrm>
            <a:off x="8986134" y="3750000"/>
            <a:ext cx="2835978" cy="1100000"/>
          </a:xfrm>
          <a:prstGeom prst="chevron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30000" rIns="33000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Shortlist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notes · PDF · brief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00" y="5150000"/>
            <a:ext cx="10983913" cy="6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06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/>
          <a:lstStyle/>
          <a:p>
            <a:pPr algn="ctr"/>
            <a:r>
              <a:rPr sz="1300" b="1">
                <a:solidFill>
                  <a:srgbClr val="1E1E1E"/>
                </a:solidFill>
              </a:rPr>
              <a:t>In the background, ~15 s:  Apertus 70B reads the request → adds the lab’s terms → refined ranking  ·  8B labelled assessment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Proof, not promises.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2113" y="1130000"/>
            <a:ext cx="42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1">
                <a:solidFill>
                  <a:srgbClr val="E30613"/>
                </a:solidFill>
              </a:rPr>
              <a:t>TECHNICAL RIGOUR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900000"/>
            <a:ext cx="380000" cy="6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2020000"/>
            <a:ext cx="2520978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000" b="1">
                <a:solidFill>
                  <a:srgbClr val="E30613"/>
                </a:solidFill>
              </a:rPr>
              <a:t>0.82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932000"/>
            <a:ext cx="2520978" cy="7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</a:rPr>
              <a:t>expected experts in the top 10
frozen set · target 0.80 · instant 0.77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9178" y="1900000"/>
            <a:ext cx="380000" cy="6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9178" y="2020000"/>
            <a:ext cx="2520978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000" b="1">
                <a:solidFill>
                  <a:srgbClr val="E30613"/>
                </a:solidFill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9178" y="2932000"/>
            <a:ext cx="2520978" cy="7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</a:rPr>
              <a:t>of results link to
a public source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80156" y="1900000"/>
            <a:ext cx="380000" cy="6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156" y="2020000"/>
            <a:ext cx="2520978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000" b="1">
                <a:solidFill>
                  <a:srgbClr val="E30613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156" y="2932000"/>
            <a:ext cx="2520978" cy="7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</a:rPr>
              <a:t>quotes differing from the stored
sentence (350 cards, 2,754 quotes)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01134" y="1900000"/>
            <a:ext cx="380000" cy="6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1134" y="2020000"/>
            <a:ext cx="2520978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000" b="1">
                <a:solidFill>
                  <a:srgbClr val="E30613"/>
                </a:solidFill>
              </a:rPr>
              <a:t>0/18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1134" y="2932000"/>
            <a:ext cx="2520978" cy="7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</a:rPr>
              <a:t>red-team attacks that
broke the rules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4500000"/>
            <a:ext cx="10983913" cy="125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0000" rIns="260000"/>
          <a:lstStyle/>
          <a:p>
            <a:pPr algn="l"/>
            <a:r>
              <a:rPr sz="1100" b="1">
                <a:solidFill>
                  <a:srgbClr val="E30613"/>
                </a:solidFill>
              </a:rPr>
              <a:t>WE SHIP ONLY WHAT THE NUMBERS SUPPORT</a:t>
            </a:r>
          </a:p>
          <a:p>
            <a:pPr algn="l"/>
            <a:r>
              <a:rPr sz="1500" b="0">
                <a:solidFill>
                  <a:srgbClr val="1E1E1E"/>
                </a:solidFill>
              </a:rPr>
              <a:t>Cross-encoder reranker: +1.2 s, no gain → not shipped   ·   Cutting weaker cards: lost 2 of 17 answers → flagged only</a:t>
            </a:r>
          </a:p>
          <a:p>
            <a:pPr algn="l"/>
            <a:r>
              <a:rPr sz="1200" b="0">
                <a:solidFill>
                  <a:srgbClr val="7A7A7A"/>
                </a:solidFill>
              </a:rPr>
              <a:t>36 real partner questions · 5 languages · tuned on one half, scored on a frozen half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Swiss, fast and cheap.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2113" y="1130000"/>
            <a:ext cx="42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1">
                <a:solidFill>
                  <a:srgbClr val="E30613"/>
                </a:solidFill>
              </a:rPr>
              <a:t>SOVEREIGN · VALUE &amp;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850000"/>
            <a:ext cx="3494637" cy="15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0000" rIns="26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Swiss model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Apertus v1.5 · 8B / 70B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82837" y="1850000"/>
            <a:ext cx="3494637" cy="15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0000" rIns="26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Swiss compute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CSCS via Keera · no cantonal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7474" y="1850000"/>
            <a:ext cx="3494637" cy="15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0000" rIns="260000"/>
          <a:lstStyle/>
          <a:p>
            <a:pPr algn="l"/>
            <a:r>
              <a:rPr sz="2200" b="1">
                <a:solidFill>
                  <a:srgbClr val="FFFFFF"/>
                </a:solidFill>
              </a:rPr>
              <a:t>Runs fully offline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Docker + local Apertus · tested with the network off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3600000"/>
            <a:ext cx="3494637" cy="155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0000" rIns="260000"/>
          <a:lstStyle/>
          <a:p>
            <a:pPr algn="l"/>
            <a:r>
              <a:rPr sz="2200" b="1">
                <a:solidFill>
                  <a:srgbClr val="1E1E1E"/>
                </a:solidFill>
              </a:rPr>
              <a:t>0 tokens</a:t>
            </a:r>
          </a:p>
          <a:p>
            <a:pPr algn="l"/>
            <a:r>
              <a:rPr sz="1300" b="0">
                <a:solidFill>
                  <a:srgbClr val="7A7A7A"/>
                </a:solidFill>
              </a:rPr>
              <a:t>per search · ≈ 2.9k per Apertus-refined request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82837" y="3600000"/>
            <a:ext cx="3494637" cy="155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0000" rIns="260000"/>
          <a:lstStyle/>
          <a:p>
            <a:pPr algn="l"/>
            <a:r>
              <a:rPr sz="2200" b="1">
                <a:solidFill>
                  <a:srgbClr val="1E1E1E"/>
                </a:solidFill>
              </a:rPr>
              <a:t>≈ $22 / month</a:t>
            </a:r>
          </a:p>
          <a:p>
            <a:pPr algn="l"/>
            <a:r>
              <a:rPr sz="1300" b="0">
                <a:solidFill>
                  <a:srgbClr val="7A7A7A"/>
                </a:solidFill>
              </a:rPr>
              <a:t>to host the live service on a CPU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7474" y="3600000"/>
            <a:ext cx="3494637" cy="155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0000" rIns="260000"/>
          <a:lstStyle/>
          <a:p>
            <a:pPr algn="l"/>
            <a:r>
              <a:rPr sz="2200" b="1">
                <a:solidFill>
                  <a:srgbClr val="1E1E1E"/>
                </a:solidFill>
              </a:rPr>
              <a:t>0.5 s</a:t>
            </a:r>
          </a:p>
          <a:p>
            <a:pPr algn="l"/>
            <a:r>
              <a:rPr sz="1300" b="0">
                <a:solidFill>
                  <a:srgbClr val="7A7A7A"/>
                </a:solidFill>
              </a:rPr>
              <a:t>to first results (server p95) · scale by adding replicas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5500000"/>
            <a:ext cx="10983913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7A7A7A"/>
                </a:solidFill>
              </a:rPr>
              <a:t>Polite crawl: robots.txt · ≤ 0.5 req/s per site · never at query time  ·  public data only · removal on request  ·  designed for nDSG / GDPR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institution is one file.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2113" y="1130000"/>
            <a:ext cx="42000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1">
                <a:solidFill>
                  <a:srgbClr val="E30613"/>
                </a:solidFill>
              </a:rPr>
              <a:t>IMPLEMENTATION FEASIBILITY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800000"/>
            <a:ext cx="5000000" cy="3700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300000"/>
          <a:lstStyle/>
          <a:p>
            <a:pPr algn="l"/>
            <a:r>
              <a:rPr sz="1300" b="0">
                <a:solidFill>
                  <a:srgbClr val="888888"/>
                </a:solidFill>
                <a:latin typeface="Courier New"/>
              </a:rPr>
              <a:t># config/sources/bfh.yaml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source_id: bfh-research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start_urls: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  - https://www.bfh.ch/en/research…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allowed_domains: [www.bfh.ch]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languages: [de, en, fr]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max_pages: 15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requests_per_second: 0.5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5600000"/>
            <a:ext cx="5000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7A7A7A"/>
                </a:solidFill>
              </a:rPr>
              <a:t>no code change · incremental rebuild · deploy + rollback · 360+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8200" y="1800000"/>
            <a:ext cx="5533913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7A7A7A"/>
                </a:solidFill>
              </a:rPr>
              <a:t>CHALLENGE CRITERIA</a:t>
            </a:r>
          </a:p>
        </p:txBody>
      </p:sp>
      <p:sp>
        <p:nvSpPr>
          <p:cNvPr id="7" name="Oval 6"/>
          <p:cNvSpPr/>
          <p:nvPr/>
        </p:nvSpPr>
        <p:spPr>
          <a:xfrm>
            <a:off x="6288200" y="2290000"/>
            <a:ext cx="220000" cy="220000"/>
          </a:xfrm>
          <a:prstGeom prst="ellipse">
            <a:avLst/>
          </a:prstGeom>
          <a:solidFill>
            <a:srgbClr val="1E8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8200" y="2200000"/>
            <a:ext cx="3733913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</a:rPr>
              <a:t>Right people in the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2113" y="2200000"/>
            <a:ext cx="20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600" b="1">
                <a:solidFill>
                  <a:srgbClr val="1E8E4A"/>
                </a:solidFill>
              </a:rPr>
              <a:t>0.82</a:t>
            </a:r>
          </a:p>
        </p:txBody>
      </p:sp>
      <p:sp>
        <p:nvSpPr>
          <p:cNvPr id="10" name="Oval 9"/>
          <p:cNvSpPr/>
          <p:nvPr/>
        </p:nvSpPr>
        <p:spPr>
          <a:xfrm>
            <a:off x="6288200" y="2760000"/>
            <a:ext cx="220000" cy="220000"/>
          </a:xfrm>
          <a:prstGeom prst="ellipse">
            <a:avLst/>
          </a:prstGeom>
          <a:solidFill>
            <a:srgbClr val="1E8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8200" y="2670000"/>
            <a:ext cx="3733913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</a:rPr>
              <a:t>Synonyms and other languages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2113" y="2670000"/>
            <a:ext cx="20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600" b="1">
                <a:solidFill>
                  <a:srgbClr val="1E8E4A"/>
                </a:solidFill>
              </a:rPr>
              <a:t>2/2 · 0.78</a:t>
            </a:r>
          </a:p>
        </p:txBody>
      </p:sp>
      <p:sp>
        <p:nvSpPr>
          <p:cNvPr id="13" name="Oval 12"/>
          <p:cNvSpPr/>
          <p:nvPr/>
        </p:nvSpPr>
        <p:spPr>
          <a:xfrm>
            <a:off x="6288200" y="3230000"/>
            <a:ext cx="220000" cy="220000"/>
          </a:xfrm>
          <a:prstGeom prst="ellipse">
            <a:avLst/>
          </a:prstGeom>
          <a:solidFill>
            <a:srgbClr val="1E8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8200" y="3140000"/>
            <a:ext cx="3733913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</a:rPr>
              <a:t>Every result traceable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2113" y="3140000"/>
            <a:ext cx="20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600" b="1">
                <a:solidFill>
                  <a:srgbClr val="1E8E4A"/>
                </a:solidFill>
              </a:rPr>
              <a:t>100%</a:t>
            </a:r>
          </a:p>
        </p:txBody>
      </p:sp>
      <p:sp>
        <p:nvSpPr>
          <p:cNvPr id="16" name="Oval 15"/>
          <p:cNvSpPr/>
          <p:nvPr/>
        </p:nvSpPr>
        <p:spPr>
          <a:xfrm>
            <a:off x="6288200" y="3700000"/>
            <a:ext cx="220000" cy="220000"/>
          </a:xfrm>
          <a:prstGeom prst="ellipse">
            <a:avLst/>
          </a:prstGeom>
          <a:solidFill>
            <a:srgbClr val="1E8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8200" y="3610000"/>
            <a:ext cx="3733913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</a:rPr>
              <a:t>Structured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2113" y="3610000"/>
            <a:ext cx="20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600" b="1">
                <a:solidFill>
                  <a:srgbClr val="1E8E4A"/>
                </a:solidFill>
              </a:rPr>
              <a:t>role · unit · projects</a:t>
            </a:r>
          </a:p>
        </p:txBody>
      </p:sp>
      <p:sp>
        <p:nvSpPr>
          <p:cNvPr id="19" name="Oval 18"/>
          <p:cNvSpPr/>
          <p:nvPr/>
        </p:nvSpPr>
        <p:spPr>
          <a:xfrm>
            <a:off x="6288200" y="4170000"/>
            <a:ext cx="220000" cy="220000"/>
          </a:xfrm>
          <a:prstGeom prst="ellipse">
            <a:avLst/>
          </a:prstGeom>
          <a:solidFill>
            <a:srgbClr val="1E8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8200" y="4080000"/>
            <a:ext cx="3733913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</a:rPr>
              <a:t>All three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2113" y="4080000"/>
            <a:ext cx="20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600" b="1">
                <a:solidFill>
                  <a:srgbClr val="1E8E4A"/>
                </a:solidFill>
              </a:rPr>
              <a:t>41 sites</a:t>
            </a:r>
          </a:p>
        </p:txBody>
      </p:sp>
      <p:sp>
        <p:nvSpPr>
          <p:cNvPr id="22" name="Oval 21"/>
          <p:cNvSpPr/>
          <p:nvPr/>
        </p:nvSpPr>
        <p:spPr>
          <a:xfrm>
            <a:off x="6288200" y="4640000"/>
            <a:ext cx="220000" cy="220000"/>
          </a:xfrm>
          <a:prstGeom prst="ellipse">
            <a:avLst/>
          </a:prstGeom>
          <a:solidFill>
            <a:srgbClr val="1E8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8200" y="4550000"/>
            <a:ext cx="3733913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</a:rPr>
              <a:t>Easy to extend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2113" y="4550000"/>
            <a:ext cx="20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600" b="1">
                <a:solidFill>
                  <a:srgbClr val="1E8E4A"/>
                </a:solidFill>
              </a:rPr>
              <a:t>1 file</a:t>
            </a:r>
          </a:p>
        </p:txBody>
      </p:sp>
      <p:sp>
        <p:nvSpPr>
          <p:cNvPr id="25" name="Oval 24"/>
          <p:cNvSpPr/>
          <p:nvPr/>
        </p:nvSpPr>
        <p:spPr>
          <a:xfrm>
            <a:off x="6288200" y="5110000"/>
            <a:ext cx="220000" cy="220000"/>
          </a:xfrm>
          <a:prstGeom prst="ellipse">
            <a:avLst/>
          </a:prstGeom>
          <a:solidFill>
            <a:srgbClr val="1E8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8200" y="5020000"/>
            <a:ext cx="3733913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</a:rPr>
              <a:t>Says when unsure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2113" y="5020000"/>
            <a:ext cx="2000000" cy="42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600" b="1">
                <a:solidFill>
                  <a:srgbClr val="1E8E4A"/>
                </a:solidFill>
              </a:rPr>
              <a:t>labels + refusal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Production-ready today. Built to grow.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950000"/>
            <a:ext cx="3494637" cy="35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00000" rIns="300000"/>
          <a:lstStyle/>
          <a:p>
            <a:pPr algn="l"/>
            <a:r>
              <a:rPr sz="1200" b="1">
                <a:solidFill>
                  <a:srgbClr val="E30613"/>
                </a:solidFill>
              </a:rPr>
              <a:t>READY TODAY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1E1E"/>
                </a:solidFill>
              </a:rPr>
              <a:t>Production-ready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7A7A7A"/>
                </a:solidFill>
              </a:rPr>
              <a:t>· One-command deploy, smoke test, rollback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7A7A7A"/>
                </a:solidFill>
              </a:rPr>
              <a:t>· Index restores in ≈ 7 s · incremental rebuild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7A7A7A"/>
                </a:solidFill>
              </a:rPr>
              <a:t>· 360+ automated tests in CI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7A7A7A"/>
                </a:solidFill>
              </a:rPr>
              <a:t>· Rate limits · protected admin · removal (410)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7A7A7A"/>
                </a:solidFill>
              </a:rPr>
              <a:t>· Runs offline in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82837" y="1950000"/>
            <a:ext cx="3494637" cy="35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00000" rIns="300000"/>
          <a:lstStyle/>
          <a:p>
            <a:pPr algn="l"/>
            <a:r>
              <a:rPr sz="1200" b="1">
                <a:solidFill>
                  <a:srgbClr val="E30613"/>
                </a:solidFill>
              </a:rPr>
              <a:t>TO GO LIVE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1E1E"/>
                </a:solidFill>
              </a:rPr>
              <a:t>Operate it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7A7A7A"/>
                </a:solidFill>
              </a:rPr>
              <a:t>· Swiss or on-prem hosting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7A7A7A"/>
                </a:solidFill>
              </a:rPr>
              <a:t>· Scheduled refresh crawls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7A7A7A"/>
                </a:solidFill>
              </a:rPr>
              <a:t>· Monitoring and alerting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7A7A7A"/>
                </a:solidFill>
              </a:rPr>
              <a:t>· Single sign-on for analysts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7474" y="1950000"/>
            <a:ext cx="3494637" cy="35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00000" rIns="300000"/>
          <a:lstStyle/>
          <a:p>
            <a:pPr algn="l"/>
            <a:r>
              <a:rPr sz="1200" b="1">
                <a:solidFill>
                  <a:srgbClr val="E30613"/>
                </a:solidFill>
              </a:rPr>
              <a:t>NEXT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1E1E"/>
                </a:solidFill>
              </a:rPr>
              <a:t>Grow it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7A7A7A"/>
                </a:solidFill>
              </a:rPr>
              <a:t>· Swiss embeddings: full Apertus stack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7A7A7A"/>
                </a:solidFill>
              </a:rPr>
              <a:t>· +1,529 pages already crawled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7A7A7A"/>
                </a:solidFill>
              </a:rPr>
              <a:t>· Richer cards, more fields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7A7A7A"/>
                </a:solidFill>
              </a:rPr>
              <a:t>· Team shortlists, CRM export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Who to call. Why. With proof.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2100000"/>
            <a:ext cx="7600000" cy="12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0">
                <a:solidFill>
                  <a:srgbClr val="1E1E1E"/>
                </a:solidFill>
              </a:rPr>
              <a:t>Bern Match turns 41 websites into</a:t>
            </a:r>
          </a:p>
          <a:p>
            <a:pPr algn="l"/>
            <a:r>
              <a:rPr sz="2800" b="1">
                <a:solidFill>
                  <a:srgbClr val="1E1E1E"/>
                </a:solidFill>
              </a:rPr>
              <a:t>a verified shortlist.</a:t>
            </a:r>
          </a:p>
          <a:p>
            <a:pPr algn="l"/>
            <a:r>
              <a:rPr sz="2800" b="1">
                <a:solidFill>
                  <a:srgbClr val="E30613"/>
                </a:solidFill>
              </a:rPr>
              <a:t>Powered by Apertus.</a:t>
            </a:r>
          </a:p>
        </p:txBody>
      </p:sp>
      <p:pic>
        <p:nvPicPr>
          <p:cNvPr id="4" name="Picture 3" descr="qr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113" y="1900000"/>
            <a:ext cx="2600000" cy="26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22113" y="4600000"/>
            <a:ext cx="2600000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hlinkClick r:id="rId4"/>
              </a:rPr>
              <a:t>Try it now 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5300000"/>
            <a:ext cx="10983913" cy="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  <a:hlinkClick r:id="rId5"/>
              </a:rPr>
              <a:t>Thank you · Dimitry · Maxim · Ruihan   |   github.com/AnAsteria/Apertus_Hack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theme/theme1.xml><?xml version="1.0" encoding="utf-8"?>
<a:theme xmlns:a="http://schemas.openxmlformats.org/drawingml/2006/main" name="Benutzerdefiniertes Design">
  <a:themeElements>
    <a:clrScheme name="Kanton Bern">
      <a:dk1>
        <a:sysClr val="windowText" lastClr="000000"/>
      </a:dk1>
      <a:lt1>
        <a:sysClr val="window" lastClr="FFFFFF"/>
      </a:lt1>
      <a:dk2>
        <a:srgbClr val="63737B"/>
      </a:dk2>
      <a:lt2>
        <a:srgbClr val="B1B9BD"/>
      </a:lt2>
      <a:accent1>
        <a:srgbClr val="3C505A"/>
      </a:accent1>
      <a:accent2>
        <a:srgbClr val="96D7F0"/>
      </a:accent2>
      <a:accent3>
        <a:srgbClr val="A0C7A0"/>
      </a:accent3>
      <a:accent4>
        <a:srgbClr val="E1D2C6"/>
      </a:accent4>
      <a:accent5>
        <a:srgbClr val="644B41"/>
      </a:accent5>
      <a:accent6>
        <a:srgbClr val="EA161F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 PowerPoint DE.potx" id="{E35E844B-C969-45C1-85DE-B7ED56A30097}" vid="{9CD5C389-EEA3-4CD9-ADDA-01A292F3BE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702</Words>
  <Application>Microsoft Office PowerPoint</Application>
  <PresentationFormat>Grand écran</PresentationFormat>
  <Paragraphs>186</Paragraphs>
  <Slides>19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1" baseType="lpstr">
      <vt:lpstr>Arial</vt:lpstr>
      <vt:lpstr>Benutzerdefiniertes Design</vt:lpstr>
      <vt:lpstr>Titel (maximal 2 Zeilen)</vt:lpstr>
      <vt:lpstr>Titel (maximal 2 Zeilen)</vt:lpstr>
      <vt:lpstr>Titel (maximal 2 Zeilen)</vt:lpstr>
      <vt:lpstr>Beispiel Kapiteltitel Schwarz</vt:lpstr>
      <vt:lpstr>Beispiel Kapiteltitel Blaugrau</vt:lpstr>
      <vt:lpstr>Beispiel Kapiteltitel Weiss</vt:lpstr>
      <vt:lpstr>Beispiel Kapiteltitel Rot</vt:lpstr>
      <vt:lpstr>Hinweis zum Erstellen von Aufzählungen</vt:lpstr>
      <vt:lpstr>Programm</vt:lpstr>
      <vt:lpstr>Beispielfolie «Titel und Inhalt»</vt:lpstr>
      <vt:lpstr>Beispielfolie «Titel, Untertitel und Inhalt»</vt:lpstr>
      <vt:lpstr>Beispielfolie «Titel, Inhalt und Bild rechts»</vt:lpstr>
      <vt:lpstr>Beispielfolie «Titel, Inhalt und Bild links»</vt:lpstr>
      <vt:lpstr>Tabelle</vt:lpstr>
      <vt:lpstr>Beispielfolie Säulendiagramm</vt:lpstr>
      <vt:lpstr>Beispielfolie Säulendiagramm</vt:lpstr>
      <vt:lpstr>Beispielfolie Kreisdiagramm</vt:lpstr>
      <vt:lpstr>Hinterlegtes Farbkonzept</vt:lpstr>
      <vt:lpstr>Kontakt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Ziegler Joëlle, WEU-AWI-SFBE-BI</dc:creator>
  <dc:description>V02-2022-06-13</dc:description>
  <cp:lastModifiedBy>Ziegler Joëlle, WEU-AWI-SFBE-BI</cp:lastModifiedBy>
  <cp:revision>1</cp:revision>
  <cp:lastPrinted>2018-09-06T06:44:02Z</cp:lastPrinted>
  <dcterms:created xsi:type="dcterms:W3CDTF">2026-10-18T09:02:13Z</dcterms:created>
  <dcterms:modified xsi:type="dcterms:W3CDTF">2026-10-18T09:03:04Z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4fdd986-87d9-48c6-acda-407b1ab5fef0_Enabled">
    <vt:lpwstr>true</vt:lpwstr>
  </property>
  <property fmtid="{D5CDD505-2E9C-101B-9397-08002B2CF9AE}" pid="3" name="MSIP_Label_74fdd986-87d9-48c6-acda-407b1ab5fef0_SetDate">
    <vt:lpwstr>2026-10-18T09:03:03Z</vt:lpwstr>
  </property>
  <property fmtid="{D5CDD505-2E9C-101B-9397-08002B2CF9AE}" pid="4" name="MSIP_Label_74fdd986-87d9-48c6-acda-407b1ab5fef0_Method">
    <vt:lpwstr>Standard</vt:lpwstr>
  </property>
  <property fmtid="{D5CDD505-2E9C-101B-9397-08002B2CF9AE}" pid="5" name="MSIP_Label_74fdd986-87d9-48c6-acda-407b1ab5fef0_Name">
    <vt:lpwstr>NICHT KLASSIFIZIERT</vt:lpwstr>
  </property>
  <property fmtid="{D5CDD505-2E9C-101B-9397-08002B2CF9AE}" pid="6" name="MSIP_Label_74fdd986-87d9-48c6-acda-407b1ab5fef0_SiteId">
    <vt:lpwstr>cb96f99a-a111-42d7-9f65-e111197ba4bb</vt:lpwstr>
  </property>
  <property fmtid="{D5CDD505-2E9C-101B-9397-08002B2CF9AE}" pid="7" name="MSIP_Label_74fdd986-87d9-48c6-acda-407b1ab5fef0_ActionId">
    <vt:lpwstr>106f63c6-80dd-4266-a76a-39bb703d85e2</vt:lpwstr>
  </property>
  <property fmtid="{D5CDD505-2E9C-101B-9397-08002B2CF9AE}" pid="8" name="MSIP_Label_74fdd986-87d9-48c6-acda-407b1ab5fef0_ContentBits">
    <vt:lpwstr>0</vt:lpwstr>
  </property>
  <property fmtid="{D5CDD505-2E9C-101B-9397-08002B2CF9AE}" pid="9" name="MSIP_Label_74fdd986-87d9-48c6-acda-407b1ab5fef0_Tag">
    <vt:lpwstr>10, 3, 0, 1</vt:lpwstr>
  </property>
</Properties>
</file>